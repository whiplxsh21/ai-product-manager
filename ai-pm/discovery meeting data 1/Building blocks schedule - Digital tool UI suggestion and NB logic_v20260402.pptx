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spreadsheetml.sheet" PartName="/ppt/embeddings/Microsoft_Excel_Sheet1.xlsx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RYbhhf5S3zxf8U9qBdcklFX7/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48CABD-8865-43B0-A919-D2D1B9AF74DC}">
  <a:tblStyle styleId="{FF48CABD-8865-43B0-A919-D2D1B9AF74D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E9"/>
          </a:solidFill>
        </a:fill>
      </a:tcStyle>
    </a:wholeTbl>
    <a:band1H>
      <a:tcTxStyle/>
      <a:tcStyle>
        <a:fill>
          <a:solidFill>
            <a:srgbClr val="CACBD0"/>
          </a:solidFill>
        </a:fill>
      </a:tcStyle>
    </a:band1H>
    <a:band2H>
      <a:tcTxStyle/>
    </a:band2H>
    <a:band1V>
      <a:tcTxStyle/>
      <a:tcStyle>
        <a:fill>
          <a:solidFill>
            <a:srgbClr val="CACBD0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CFD77D87-EF1F-41B1-BA7E-81F942572A6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22" Type="http://customschemas.google.com/relationships/presentationmetadata" Target="metadata"/><Relationship Id="rId21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2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 Schedule Building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</a:t>
            </a: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Single, End‑to‑End Critical Path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Establish clear visibility and ownership by identifying and quantifying each function’s contribution to the program critical path.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9‑Scenario Baseline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Apply one consistent schedule framework across all Consumer and Commercial laptops to enable portfolio‑level alignment and comparability.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Predictable, Faster Execution</a:t>
            </a: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schedule confidence, improve decision speed, and reduce late‑stage risk from DDS through RFD.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aligned critical path across all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One baseline applied consistently across the portfolio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Higher predictability, faster decisions, lower execution risk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jp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jpg"/><Relationship Id="rId3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6.jpg"/><Relationship Id="rId3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blue">
  <p:cSld name="Divider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5"/>
          <p:cNvSpPr txBox="1"/>
          <p:nvPr>
            <p:ph type="title"/>
          </p:nvPr>
        </p:nvSpPr>
        <p:spPr>
          <a:xfrm>
            <a:off x="381000" y="4343400"/>
            <a:ext cx="8027894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5400"/>
              <a:buFont typeface="Arial"/>
              <a:buNone/>
              <a:defRPr sz="5400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5"/>
          <p:cNvSpPr txBox="1"/>
          <p:nvPr>
            <p:ph idx="1" type="body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6" name="Google Shape;3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blue">
  <p:cSld name="Divider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>
            <p:ph type="title"/>
          </p:nvPr>
        </p:nvSpPr>
        <p:spPr>
          <a:xfrm>
            <a:off x="381000" y="4343400"/>
            <a:ext cx="8027894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0" name="Google Shape;100;p18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showMasterSp="0">
  <p:cSld name="Cov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171" y="6172200"/>
            <a:ext cx="2743200" cy="35661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0"/>
          <p:cNvSpPr txBox="1"/>
          <p:nvPr>
            <p:ph idx="1" type="subTitle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30"/>
          <p:cNvSpPr/>
          <p:nvPr/>
        </p:nvSpPr>
        <p:spPr>
          <a:xfrm>
            <a:off x="381000" y="3429000"/>
            <a:ext cx="457200" cy="1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0"/>
          <p:cNvSpPr txBox="1"/>
          <p:nvPr>
            <p:ph type="title"/>
          </p:nvPr>
        </p:nvSpPr>
        <p:spPr>
          <a:xfrm>
            <a:off x="381000" y="1738312"/>
            <a:ext cx="7969282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2" showMasterSp="0">
  <p:cSld name="Cover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171" y="6172200"/>
            <a:ext cx="2743200" cy="35661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1"/>
          <p:cNvSpPr txBox="1"/>
          <p:nvPr>
            <p:ph idx="1" type="subTitle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31"/>
          <p:cNvSpPr/>
          <p:nvPr/>
        </p:nvSpPr>
        <p:spPr>
          <a:xfrm>
            <a:off x="381000" y="3429000"/>
            <a:ext cx="457200" cy="1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1"/>
          <p:cNvSpPr txBox="1"/>
          <p:nvPr>
            <p:ph type="title"/>
          </p:nvPr>
        </p:nvSpPr>
        <p:spPr>
          <a:xfrm>
            <a:off x="381000" y="1738312"/>
            <a:ext cx="7969282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solidFill>
          <a:schemeClr val="accen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2"/>
          <p:cNvSpPr txBox="1"/>
          <p:nvPr>
            <p:ph type="title"/>
          </p:nvPr>
        </p:nvSpPr>
        <p:spPr>
          <a:xfrm>
            <a:off x="378759" y="5090333"/>
            <a:ext cx="9715500" cy="747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14" name="Google Shape;11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2"/>
          <p:cNvSpPr txBox="1"/>
          <p:nvPr>
            <p:ph idx="1" type="body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blue2">
  <p:cSld name="Divider blue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3"/>
          <p:cNvSpPr txBox="1"/>
          <p:nvPr>
            <p:ph type="title"/>
          </p:nvPr>
        </p:nvSpPr>
        <p:spPr>
          <a:xfrm>
            <a:off x="381000" y="3595503"/>
            <a:ext cx="4457700" cy="22436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9" name="Google Shape;119;p33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80C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3"/>
          <p:cNvSpPr txBox="1"/>
          <p:nvPr>
            <p:ph idx="1" type="body"/>
          </p:nvPr>
        </p:nvSpPr>
        <p:spPr>
          <a:xfrm>
            <a:off x="1066799" y="349478"/>
            <a:ext cx="377190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blue">
  <p:cSld name="Side bar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/>
          <p:nvPr>
            <p:ph type="title"/>
          </p:nvPr>
        </p:nvSpPr>
        <p:spPr>
          <a:xfrm>
            <a:off x="381000" y="801183"/>
            <a:ext cx="22860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3" name="Google Shape;123;p34"/>
          <p:cNvSpPr txBox="1"/>
          <p:nvPr>
            <p:ph idx="1" type="body"/>
          </p:nvPr>
        </p:nvSpPr>
        <p:spPr>
          <a:xfrm>
            <a:off x="3467100" y="400050"/>
            <a:ext cx="8343900" cy="58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34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80C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4"/>
          <p:cNvSpPr txBox="1"/>
          <p:nvPr>
            <p:ph idx="2" type="subTitle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C7F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0C7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blue w photo">
  <p:cSld name="Side bar blue w ph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5"/>
          <p:cNvSpPr txBox="1"/>
          <p:nvPr>
            <p:ph type="title"/>
          </p:nvPr>
        </p:nvSpPr>
        <p:spPr>
          <a:xfrm>
            <a:off x="381000" y="801183"/>
            <a:ext cx="22860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8" name="Google Shape;128;p35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80C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0C7F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5"/>
          <p:cNvSpPr txBox="1"/>
          <p:nvPr>
            <p:ph idx="1" type="subTitle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C7F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0C7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35"/>
          <p:cNvSpPr/>
          <p:nvPr>
            <p:ph idx="2" type="pic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blue">
  <p:cSld name="Top bar blue">
    <p:bg>
      <p:bgPr>
        <a:solidFill>
          <a:schemeClr val="dk2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6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6"/>
          <p:cNvSpPr txBox="1"/>
          <p:nvPr>
            <p:ph type="title"/>
          </p:nvPr>
        </p:nvSpPr>
        <p:spPr>
          <a:xfrm>
            <a:off x="382483" y="800100"/>
            <a:ext cx="3999017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4" name="Google Shape;134;p36"/>
          <p:cNvSpPr txBox="1"/>
          <p:nvPr>
            <p:ph idx="1" type="body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rgbClr val="E5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5" name="Google Shape;135;p36"/>
          <p:cNvSpPr txBox="1"/>
          <p:nvPr>
            <p:ph idx="2" type="body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rgbClr val="E5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36"/>
          <p:cNvSpPr txBox="1"/>
          <p:nvPr>
            <p:ph idx="3" type="body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rgbClr val="E5F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36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80C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blue">
  <p:cSld name="Statement blue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7"/>
          <p:cNvSpPr txBox="1"/>
          <p:nvPr>
            <p:ph type="title"/>
          </p:nvPr>
        </p:nvSpPr>
        <p:spPr>
          <a:xfrm>
            <a:off x="398556" y="3438303"/>
            <a:ext cx="9201150" cy="2676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40" name="Google Shape;14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7"/>
          <p:cNvSpPr/>
          <p:nvPr/>
        </p:nvSpPr>
        <p:spPr>
          <a:xfrm>
            <a:off x="398556" y="2914650"/>
            <a:ext cx="457200" cy="114300"/>
          </a:xfrm>
          <a:prstGeom prst="rect">
            <a:avLst/>
          </a:prstGeom>
          <a:solidFill>
            <a:srgbClr val="80C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w/pattern blue">
  <p:cSld name="Top bar w/pattern blu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8"/>
          <p:cNvSpPr txBox="1"/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44" name="Google Shape;14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8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80C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w/photo half blue">
  <p:cSld name="Top bar w/photo half blue">
    <p:bg>
      <p:bgPr>
        <a:solidFill>
          <a:schemeClr val="accen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9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9"/>
          <p:cNvSpPr/>
          <p:nvPr>
            <p:ph idx="2" type="pic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39"/>
          <p:cNvSpPr/>
          <p:nvPr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rgbClr val="80C7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9"/>
          <p:cNvSpPr txBox="1"/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2" name="Google Shape;152;p39"/>
          <p:cNvSpPr txBox="1"/>
          <p:nvPr>
            <p:ph idx="1" type="body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C7FB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C7FB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3" name="Google Shape;153;p39"/>
          <p:cNvSpPr txBox="1"/>
          <p:nvPr>
            <p:ph idx="3" type="subTitle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C7FB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0C7F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green">
  <p:cSld name="Divider gree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40"/>
          <p:cNvSpPr txBox="1"/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4FFD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E4FFD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p40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35C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0"/>
          <p:cNvSpPr txBox="1"/>
          <p:nvPr>
            <p:ph idx="1" type="body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green2">
  <p:cSld name="Divider green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1"/>
          <p:cNvSpPr txBox="1"/>
          <p:nvPr>
            <p:ph type="title"/>
          </p:nvPr>
        </p:nvSpPr>
        <p:spPr>
          <a:xfrm>
            <a:off x="381000" y="4343400"/>
            <a:ext cx="5715000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4FFD6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E4FFD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2" name="Google Shape;162;p41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37C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1"/>
          <p:cNvSpPr txBox="1"/>
          <p:nvPr>
            <p:ph idx="1" type="body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green">
  <p:cSld name="Side bar gree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2"/>
          <p:cNvSpPr txBox="1"/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4FFD6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E4FFD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6" name="Google Shape;166;p42"/>
          <p:cNvSpPr txBox="1"/>
          <p:nvPr>
            <p:ph idx="1" type="body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42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9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2"/>
          <p:cNvSpPr txBox="1"/>
          <p:nvPr>
            <p:ph idx="2" type="subTitle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FFF9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FFF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green w/photo">
  <p:cSld name="Side bar green w/ph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3"/>
          <p:cNvSpPr txBox="1"/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4FFD6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E4FFD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1" name="Google Shape;171;p43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9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3"/>
          <p:cNvSpPr txBox="1"/>
          <p:nvPr>
            <p:ph idx="1" type="subTitle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FFF99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9FFF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43"/>
          <p:cNvSpPr/>
          <p:nvPr>
            <p:ph idx="2" type="pic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green">
  <p:cSld name="Top bar green">
    <p:bg>
      <p:bgPr>
        <a:solidFill>
          <a:schemeClr val="dk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4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4"/>
          <p:cNvSpPr txBox="1"/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7" name="Google Shape;177;p44"/>
          <p:cNvSpPr txBox="1"/>
          <p:nvPr>
            <p:ph idx="1" type="body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rgbClr val="E4F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8" name="Google Shape;178;p44"/>
          <p:cNvSpPr txBox="1"/>
          <p:nvPr>
            <p:ph idx="2" type="body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rgbClr val="E4F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44"/>
          <p:cNvSpPr txBox="1"/>
          <p:nvPr>
            <p:ph idx="3" type="body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rgbClr val="E4F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44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35C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green">
  <p:cSld name="Statement green">
    <p:bg>
      <p:bgPr>
        <a:solidFill>
          <a:schemeClr val="accent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5"/>
          <p:cNvSpPr txBox="1"/>
          <p:nvPr>
            <p:ph type="title"/>
          </p:nvPr>
        </p:nvSpPr>
        <p:spPr>
          <a:xfrm>
            <a:off x="363661" y="3438303"/>
            <a:ext cx="9201150" cy="2676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FFF99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9FFF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183" name="Google Shape;18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5"/>
          <p:cNvSpPr/>
          <p:nvPr/>
        </p:nvSpPr>
        <p:spPr>
          <a:xfrm>
            <a:off x="381000" y="2914650"/>
            <a:ext cx="457200" cy="114300"/>
          </a:xfrm>
          <a:prstGeom prst="rect">
            <a:avLst/>
          </a:prstGeom>
          <a:solidFill>
            <a:srgbClr val="9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9FFF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w/photo half green">
  <p:cSld name="Top bar w/photo half green">
    <p:bg>
      <p:bgPr>
        <a:solidFill>
          <a:srgbClr val="24473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46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6"/>
          <p:cNvSpPr/>
          <p:nvPr>
            <p:ph idx="2" type="pic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46"/>
          <p:cNvSpPr/>
          <p:nvPr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rgbClr val="9FFF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6"/>
          <p:cNvSpPr txBox="1"/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1" name="Google Shape;191;p46"/>
          <p:cNvSpPr txBox="1"/>
          <p:nvPr>
            <p:ph idx="1" type="body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FFF99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FFF99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46"/>
          <p:cNvSpPr txBox="1"/>
          <p:nvPr>
            <p:ph idx="3" type="subTitle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9FFF99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9FFF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red">
  <p:cSld name="Divider re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7"/>
          <p:cNvSpPr txBox="1"/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EECE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FBE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47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B30B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7"/>
          <p:cNvSpPr txBox="1"/>
          <p:nvPr>
            <p:ph idx="1" type="body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red2">
  <p:cSld name="Divider red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48"/>
          <p:cNvSpPr txBox="1"/>
          <p:nvPr>
            <p:ph type="title"/>
          </p:nvPr>
        </p:nvSpPr>
        <p:spPr>
          <a:xfrm>
            <a:off x="381000" y="4343400"/>
            <a:ext cx="5715000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EECE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FBE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1" name="Google Shape;201;p48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8"/>
          <p:cNvSpPr txBox="1"/>
          <p:nvPr>
            <p:ph idx="1" type="body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red">
  <p:cSld name="Side bar re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9"/>
          <p:cNvSpPr txBox="1"/>
          <p:nvPr>
            <p:ph type="title"/>
          </p:nvPr>
        </p:nvSpPr>
        <p:spPr>
          <a:xfrm>
            <a:off x="399936" y="800100"/>
            <a:ext cx="2267064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EECE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BE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5" name="Google Shape;205;p49"/>
          <p:cNvSpPr txBox="1"/>
          <p:nvPr>
            <p:ph idx="1" type="body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49"/>
          <p:cNvSpPr/>
          <p:nvPr/>
        </p:nvSpPr>
        <p:spPr>
          <a:xfrm>
            <a:off x="381000" y="415450"/>
            <a:ext cx="457200" cy="11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9"/>
          <p:cNvSpPr txBox="1"/>
          <p:nvPr>
            <p:ph idx="2" type="subTitle"/>
          </p:nvPr>
        </p:nvSpPr>
        <p:spPr>
          <a:xfrm>
            <a:off x="381000" y="2514600"/>
            <a:ext cx="2281326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red w/photo">
  <p:cSld name="Side bar red w/ph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0"/>
          <p:cNvSpPr txBox="1"/>
          <p:nvPr>
            <p:ph type="title"/>
          </p:nvPr>
        </p:nvSpPr>
        <p:spPr>
          <a:xfrm>
            <a:off x="399936" y="800100"/>
            <a:ext cx="2267064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EECE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FBE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0" name="Google Shape;210;p50"/>
          <p:cNvSpPr/>
          <p:nvPr/>
        </p:nvSpPr>
        <p:spPr>
          <a:xfrm>
            <a:off x="381000" y="415450"/>
            <a:ext cx="457200" cy="11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0"/>
          <p:cNvSpPr txBox="1"/>
          <p:nvPr>
            <p:ph idx="1" type="subTitle"/>
          </p:nvPr>
        </p:nvSpPr>
        <p:spPr>
          <a:xfrm>
            <a:off x="381000" y="2514600"/>
            <a:ext cx="2281326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50"/>
          <p:cNvSpPr/>
          <p:nvPr>
            <p:ph idx="2" type="pic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red">
  <p:cSld name="Top bar red"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1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1"/>
          <p:cNvSpPr txBox="1"/>
          <p:nvPr>
            <p:ph type="title"/>
          </p:nvPr>
        </p:nvSpPr>
        <p:spPr>
          <a:xfrm>
            <a:off x="382483" y="800100"/>
            <a:ext cx="4056167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6" name="Google Shape;216;p51"/>
          <p:cNvSpPr txBox="1"/>
          <p:nvPr>
            <p:ph idx="1" type="body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rgbClr val="FBE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51"/>
          <p:cNvSpPr txBox="1"/>
          <p:nvPr>
            <p:ph idx="2" type="body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rgbClr val="FBE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51"/>
          <p:cNvSpPr txBox="1"/>
          <p:nvPr>
            <p:ph idx="3" type="body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rgbClr val="FBEE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51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red">
  <p:cSld name="Statement red">
    <p:bg>
      <p:bgPr>
        <a:solidFill>
          <a:schemeClr val="accent5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2"/>
          <p:cNvSpPr txBox="1"/>
          <p:nvPr>
            <p:ph type="title"/>
          </p:nvPr>
        </p:nvSpPr>
        <p:spPr>
          <a:xfrm>
            <a:off x="375981" y="3438303"/>
            <a:ext cx="9201150" cy="2676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EECE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FBEEC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22" name="Google Shape;22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52"/>
          <p:cNvSpPr/>
          <p:nvPr/>
        </p:nvSpPr>
        <p:spPr>
          <a:xfrm>
            <a:off x="375981" y="2914650"/>
            <a:ext cx="457200" cy="11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w/photo half red">
  <p:cSld name="Top bar w/photo half red">
    <p:bg>
      <p:bgPr>
        <a:solidFill>
          <a:srgbClr val="691D3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53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3"/>
          <p:cNvSpPr/>
          <p:nvPr>
            <p:ph idx="2" type="pic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53"/>
          <p:cNvSpPr txBox="1"/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9" name="Google Shape;229;p53"/>
          <p:cNvSpPr txBox="1"/>
          <p:nvPr>
            <p:ph idx="1" type="body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53"/>
          <p:cNvSpPr txBox="1"/>
          <p:nvPr>
            <p:ph idx="3" type="subTitle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53"/>
          <p:cNvSpPr/>
          <p:nvPr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purple">
  <p:cSld name="Divider purp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54"/>
          <p:cNvSpPr txBox="1"/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DF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DEDD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5" name="Google Shape;235;p54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8E5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4"/>
          <p:cNvSpPr txBox="1"/>
          <p:nvPr>
            <p:ph idx="1" type="body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purple2">
  <p:cSld name="Divider purple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55"/>
          <p:cNvSpPr txBox="1"/>
          <p:nvPr>
            <p:ph type="title"/>
          </p:nvPr>
        </p:nvSpPr>
        <p:spPr>
          <a:xfrm>
            <a:off x="381000" y="4343400"/>
            <a:ext cx="5715000" cy="149579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DFF"/>
              </a:buClr>
              <a:buSzPts val="5400"/>
              <a:buFont typeface="Arial"/>
              <a:buNone/>
              <a:defRPr b="0" i="0" sz="5400" u="none" cap="none" strike="noStrike">
                <a:solidFill>
                  <a:srgbClr val="DEDD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0" name="Google Shape;240;p55"/>
          <p:cNvSpPr/>
          <p:nvPr/>
        </p:nvSpPr>
        <p:spPr>
          <a:xfrm>
            <a:off x="381000" y="400050"/>
            <a:ext cx="404949" cy="114300"/>
          </a:xfrm>
          <a:prstGeom prst="rect">
            <a:avLst/>
          </a:prstGeom>
          <a:solidFill>
            <a:srgbClr val="8E5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5"/>
          <p:cNvSpPr txBox="1"/>
          <p:nvPr>
            <p:ph idx="1" type="body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purple">
  <p:cSld name="Side bar purp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6"/>
          <p:cNvSpPr txBox="1"/>
          <p:nvPr>
            <p:ph type="title"/>
          </p:nvPr>
        </p:nvSpPr>
        <p:spPr>
          <a:xfrm>
            <a:off x="384878" y="800100"/>
            <a:ext cx="2282122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D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DEDD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4" name="Google Shape;244;p56"/>
          <p:cNvSpPr txBox="1"/>
          <p:nvPr>
            <p:ph idx="1" type="body"/>
          </p:nvPr>
        </p:nvSpPr>
        <p:spPr>
          <a:xfrm>
            <a:off x="3467100" y="400050"/>
            <a:ext cx="8343900" cy="58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56"/>
          <p:cNvSpPr/>
          <p:nvPr/>
        </p:nvSpPr>
        <p:spPr>
          <a:xfrm>
            <a:off x="391723" y="400050"/>
            <a:ext cx="457200" cy="114300"/>
          </a:xfrm>
          <a:prstGeom prst="rect">
            <a:avLst/>
          </a:prstGeom>
          <a:solidFill>
            <a:srgbClr val="AA9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6"/>
          <p:cNvSpPr txBox="1"/>
          <p:nvPr>
            <p:ph idx="2" type="subTitle"/>
          </p:nvPr>
        </p:nvSpPr>
        <p:spPr>
          <a:xfrm>
            <a:off x="385562" y="2514600"/>
            <a:ext cx="2281606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BEA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 bar purple w/photo">
  <p:cSld name="Side bar purple w/phot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7"/>
          <p:cNvSpPr txBox="1"/>
          <p:nvPr>
            <p:ph type="title"/>
          </p:nvPr>
        </p:nvSpPr>
        <p:spPr>
          <a:xfrm>
            <a:off x="384878" y="800100"/>
            <a:ext cx="2282122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DFF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DEDD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9" name="Google Shape;249;p57"/>
          <p:cNvSpPr/>
          <p:nvPr/>
        </p:nvSpPr>
        <p:spPr>
          <a:xfrm>
            <a:off x="391723" y="400050"/>
            <a:ext cx="457200" cy="114300"/>
          </a:xfrm>
          <a:prstGeom prst="rect">
            <a:avLst/>
          </a:prstGeom>
          <a:solidFill>
            <a:srgbClr val="AA96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7"/>
          <p:cNvSpPr txBox="1"/>
          <p:nvPr>
            <p:ph idx="1" type="subTitle"/>
          </p:nvPr>
        </p:nvSpPr>
        <p:spPr>
          <a:xfrm>
            <a:off x="385562" y="2514600"/>
            <a:ext cx="2281606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BEAFF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BEA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57"/>
          <p:cNvSpPr/>
          <p:nvPr>
            <p:ph idx="2" type="pic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purple">
  <p:cSld name="Top bar purple">
    <p:bg>
      <p:bgPr>
        <a:solidFill>
          <a:schemeClr val="dk2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8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8"/>
          <p:cNvSpPr txBox="1"/>
          <p:nvPr>
            <p:ph type="title"/>
          </p:nvPr>
        </p:nvSpPr>
        <p:spPr>
          <a:xfrm>
            <a:off x="381000" y="800100"/>
            <a:ext cx="40005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5" name="Google Shape;255;p58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8E5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8"/>
          <p:cNvSpPr txBox="1"/>
          <p:nvPr>
            <p:ph idx="1" type="body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rgbClr val="DE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7" name="Google Shape;257;p58"/>
          <p:cNvSpPr txBox="1"/>
          <p:nvPr>
            <p:ph idx="2" type="body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rgbClr val="DE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p58"/>
          <p:cNvSpPr txBox="1"/>
          <p:nvPr>
            <p:ph idx="3" type="body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rgbClr val="DED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purple">
  <p:cSld name="Statement purple">
    <p:bg>
      <p:bgPr>
        <a:solidFill>
          <a:srgbClr val="612CB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9"/>
          <p:cNvSpPr txBox="1"/>
          <p:nvPr>
            <p:ph type="title"/>
          </p:nvPr>
        </p:nvSpPr>
        <p:spPr>
          <a:xfrm>
            <a:off x="379879" y="3438303"/>
            <a:ext cx="9201150" cy="2676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61" name="Google Shape;26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59"/>
          <p:cNvSpPr/>
          <p:nvPr/>
        </p:nvSpPr>
        <p:spPr>
          <a:xfrm>
            <a:off x="379879" y="2914650"/>
            <a:ext cx="457200" cy="114300"/>
          </a:xfrm>
          <a:prstGeom prst="rect">
            <a:avLst/>
          </a:prstGeom>
          <a:solidFill>
            <a:srgbClr val="BEA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 bar w/photo half purple">
  <p:cSld name="Top bar w/photo half purple">
    <p:bg>
      <p:bgPr>
        <a:solidFill>
          <a:srgbClr val="2A145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03083" y="6451744"/>
            <a:ext cx="1438648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60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0"/>
          <p:cNvSpPr/>
          <p:nvPr>
            <p:ph idx="2" type="pic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60"/>
          <p:cNvSpPr/>
          <p:nvPr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rgbClr val="BEA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0"/>
          <p:cNvSpPr txBox="1"/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9" name="Google Shape;269;p60"/>
          <p:cNvSpPr txBox="1"/>
          <p:nvPr>
            <p:ph idx="1" type="body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E5CEF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E5CEF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0" name="Google Shape;270;p60"/>
          <p:cNvSpPr txBox="1"/>
          <p:nvPr>
            <p:ph idx="3" type="subTitle"/>
          </p:nvPr>
        </p:nvSpPr>
        <p:spPr>
          <a:xfrm>
            <a:off x="381000" y="5600700"/>
            <a:ext cx="48006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BEAFF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BEA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1"/>
          <p:cNvSpPr txBox="1"/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3" name="Google Shape;273;p61"/>
          <p:cNvSpPr txBox="1"/>
          <p:nvPr>
            <p:ph idx="1" type="subTitle"/>
          </p:nvPr>
        </p:nvSpPr>
        <p:spPr>
          <a:xfrm>
            <a:off x="381000" y="857250"/>
            <a:ext cx="11430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 type="obj">
  <p:cSld name="OBJEC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2"/>
          <p:cNvSpPr txBox="1"/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6" name="Google Shape;276;p62"/>
          <p:cNvSpPr txBox="1"/>
          <p:nvPr>
            <p:ph idx="1" type="body"/>
          </p:nvPr>
        </p:nvSpPr>
        <p:spPr>
          <a:xfrm>
            <a:off x="381000" y="1600200"/>
            <a:ext cx="114300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&amp; content">
  <p:cSld name="Title, subtitle &amp; conten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3"/>
          <p:cNvSpPr txBox="1"/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9" name="Google Shape;279;p63"/>
          <p:cNvSpPr txBox="1"/>
          <p:nvPr>
            <p:ph idx="1" type="subTitle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0" name="Google Shape;280;p63"/>
          <p:cNvSpPr txBox="1"/>
          <p:nvPr>
            <p:ph idx="2" type="body"/>
          </p:nvPr>
        </p:nvSpPr>
        <p:spPr>
          <a:xfrm>
            <a:off x="385486" y="1600200"/>
            <a:ext cx="11425529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4DACFA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">
  <p:cSld name="2 column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4"/>
          <p:cNvSpPr txBox="1"/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3" name="Google Shape;283;p64"/>
          <p:cNvSpPr txBox="1"/>
          <p:nvPr>
            <p:ph idx="1" type="body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64"/>
          <p:cNvSpPr txBox="1"/>
          <p:nvPr>
            <p:ph idx="2" type="body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w subtitles">
  <p:cSld name="2 columns w subtitles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5"/>
          <p:cNvSpPr txBox="1"/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87" name="Google Shape;287;p65"/>
          <p:cNvSpPr txBox="1"/>
          <p:nvPr>
            <p:ph idx="1" type="body"/>
          </p:nvPr>
        </p:nvSpPr>
        <p:spPr>
          <a:xfrm>
            <a:off x="381000" y="1374370"/>
            <a:ext cx="5486400" cy="47978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8" name="Google Shape;288;p65"/>
          <p:cNvSpPr txBox="1"/>
          <p:nvPr>
            <p:ph idx="2" type="body"/>
          </p:nvPr>
        </p:nvSpPr>
        <p:spPr>
          <a:xfrm>
            <a:off x="6324600" y="1374370"/>
            <a:ext cx="5486400" cy="47978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•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0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 w subtitles">
  <p:cSld name="3 columns w subtitle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6"/>
          <p:cNvSpPr txBox="1"/>
          <p:nvPr>
            <p:ph type="title"/>
          </p:nvPr>
        </p:nvSpPr>
        <p:spPr>
          <a:xfrm>
            <a:off x="381000" y="342900"/>
            <a:ext cx="11430000" cy="443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1" name="Google Shape;291;p66"/>
          <p:cNvSpPr txBox="1"/>
          <p:nvPr>
            <p:ph idx="1" type="body"/>
          </p:nvPr>
        </p:nvSpPr>
        <p:spPr>
          <a:xfrm>
            <a:off x="381000" y="1371600"/>
            <a:ext cx="352632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2" name="Google Shape;292;p66"/>
          <p:cNvSpPr txBox="1"/>
          <p:nvPr>
            <p:ph idx="2" type="body"/>
          </p:nvPr>
        </p:nvSpPr>
        <p:spPr>
          <a:xfrm>
            <a:off x="4332836" y="1371600"/>
            <a:ext cx="352632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3" name="Google Shape;293;p66"/>
          <p:cNvSpPr txBox="1"/>
          <p:nvPr>
            <p:ph idx="3" type="body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808080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Arial"/>
              <a:buChar char="–"/>
              <a:defRPr b="0" i="0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715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7155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08080"/>
              </a:buClr>
              <a:buSzPts val="1867"/>
              <a:buFont typeface="Arial"/>
              <a:buChar char="–"/>
              <a:defRPr b="0" i="0" sz="1867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96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7"/>
          <p:cNvSpPr txBox="1"/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logo slide" showMasterSp="0">
  <p:cSld name="End logo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8"/>
          <p:cNvSpPr txBox="1"/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8" name="Google Shape;298;p68"/>
          <p:cNvSpPr/>
          <p:nvPr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171" y="6172200"/>
            <a:ext cx="2743200" cy="356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43" Type="http://schemas.openxmlformats.org/officeDocument/2006/relationships/theme" Target="../theme/theme3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4"/>
          <p:cNvSpPr txBox="1"/>
          <p:nvPr/>
        </p:nvSpPr>
        <p:spPr>
          <a:xfrm>
            <a:off x="63500" y="6687820"/>
            <a:ext cx="969963" cy="10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37373"/>
                </a:solidFill>
                <a:latin typeface="Calibri"/>
                <a:ea typeface="Calibri"/>
                <a:cs typeface="Calibri"/>
                <a:sym typeface="Calibri"/>
              </a:rPr>
              <a:t>Internal Use - Confidential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03079" y="6451744"/>
            <a:ext cx="1438656" cy="187024"/>
          </a:xfrm>
          <a:prstGeom prst="rect">
            <a:avLst/>
          </a:prstGeom>
          <a:noFill/>
          <a:ln>
            <a:noFill/>
          </a:ln>
        </p:spPr>
      </p:pic>
      <p:sp>
        <p:nvSpPr>
          <p:cNvPr descr="                              Dell - Internal Use - Confidential&#10;" id="92" name="Google Shape;92;p16"/>
          <p:cNvSpPr txBox="1"/>
          <p:nvPr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Copyright © Dell Inc. All Rights Reserved.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5120251" y="6702028"/>
            <a:ext cx="94577" cy="8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600" u="none" cap="none" strike="noStrik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63500" y="6687820"/>
            <a:ext cx="969963" cy="10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37373"/>
                </a:solidFill>
                <a:latin typeface="Calibri"/>
                <a:ea typeface="Calibri"/>
                <a:cs typeface="Calibri"/>
                <a:sym typeface="Calibri"/>
              </a:rPr>
              <a:t>Internal Use - Confidential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vmlDrawing" Target="../drawings/vmlDrawing1.vml"/><Relationship Id="rId4" Type="http://schemas.openxmlformats.org/officeDocument/2006/relationships/package" Target="../embeddings/Microsoft_Excel_Sheet1.xlsx"/><Relationship Id="rId5" Type="http://schemas.openxmlformats.org/officeDocument/2006/relationships/package" Target="../embeddings/Microsoft_Excel_Sheet1.xlsx"/><Relationship Id="rId6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"/>
          <p:cNvSpPr txBox="1"/>
          <p:nvPr>
            <p:ph type="title"/>
          </p:nvPr>
        </p:nvSpPr>
        <p:spPr>
          <a:xfrm>
            <a:off x="354106" y="2726087"/>
            <a:ext cx="11162158" cy="9971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3600"/>
              <a:buFont typeface="Arial"/>
              <a:buNone/>
            </a:pPr>
            <a:r>
              <a:rPr lang="en-US" sz="3600"/>
              <a:t>Building blocks schedule </a:t>
            </a:r>
            <a:br>
              <a:rPr lang="en-US" sz="3600"/>
            </a:br>
            <a:r>
              <a:rPr lang="en-US" sz="3600"/>
              <a:t>- Digital tool UI feedback &amp; Laptop logic</a:t>
            </a:r>
            <a:endParaRPr/>
          </a:p>
        </p:txBody>
      </p:sp>
      <p:sp>
        <p:nvSpPr>
          <p:cNvPr id="305" name="Google Shape;305;p1"/>
          <p:cNvSpPr txBox="1"/>
          <p:nvPr/>
        </p:nvSpPr>
        <p:spPr>
          <a:xfrm>
            <a:off x="354106" y="5560683"/>
            <a:ext cx="6599587" cy="6647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5F8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5F8FF"/>
                </a:solidFill>
                <a:latin typeface="Arial"/>
                <a:ea typeface="Arial"/>
                <a:cs typeface="Arial"/>
                <a:sym typeface="Arial"/>
              </a:rPr>
              <a:t>20260331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"/>
          <p:cNvSpPr txBox="1"/>
          <p:nvPr/>
        </p:nvSpPr>
        <p:spPr>
          <a:xfrm>
            <a:off x="130834" y="654308"/>
            <a:ext cx="115062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Add Lob and Program name , user can input manually or can select the name which extract from Jira</a:t>
            </a:r>
            <a:endParaRPr/>
          </a:p>
          <a:p>
            <a:pPr indent="-171450" lvl="1" marL="6286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For new gen not in Jira yet – manual input</a:t>
            </a:r>
            <a:endParaRPr/>
          </a:p>
          <a:p>
            <a:pPr indent="-171450" lvl="1" marL="6286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For already in Jira program – extract list from Jira and user to select</a:t>
            </a:r>
            <a:endParaRPr/>
          </a:p>
          <a:p>
            <a:pPr indent="-171450" lvl="1" marL="6286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Combine with page-3 (Save) function for traceability , and more efficiency if already defined program/schedule</a:t>
            </a:r>
            <a:endParaRPr/>
          </a:p>
        </p:txBody>
      </p:sp>
      <p:sp>
        <p:nvSpPr>
          <p:cNvPr id="311" name="Google Shape;311;p2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Digital tool UI feedback</a:t>
            </a:r>
            <a:endParaRPr/>
          </a:p>
        </p:txBody>
      </p:sp>
      <p:pic>
        <p:nvPicPr>
          <p:cNvPr id="312" name="Google Shape;312;p2"/>
          <p:cNvPicPr preferRelativeResize="0"/>
          <p:nvPr/>
        </p:nvPicPr>
        <p:blipFill rotWithShape="1">
          <a:blip r:embed="rId3">
            <a:alphaModFix/>
          </a:blip>
          <a:srcRect b="77471" l="0" r="0" t="0"/>
          <a:stretch/>
        </p:blipFill>
        <p:spPr>
          <a:xfrm>
            <a:off x="130834" y="2846787"/>
            <a:ext cx="10398724" cy="85248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"/>
          <p:cNvSpPr/>
          <p:nvPr/>
        </p:nvSpPr>
        <p:spPr>
          <a:xfrm>
            <a:off x="4425141" y="3328806"/>
            <a:ext cx="1810110" cy="23699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100" u="none" cap="none" strike="noStrike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e.g Dell / Dell Pro / XPS</a:t>
            </a:r>
            <a:endParaRPr b="1" sz="12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"/>
          <p:cNvSpPr/>
          <p:nvPr/>
        </p:nvSpPr>
        <p:spPr>
          <a:xfrm>
            <a:off x="6366084" y="3328805"/>
            <a:ext cx="2036871" cy="23699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 e.g. Binary INT NVL 14</a:t>
            </a:r>
            <a:endParaRPr/>
          </a:p>
        </p:txBody>
      </p:sp>
      <p:sp>
        <p:nvSpPr>
          <p:cNvPr id="315" name="Google Shape;315;p2"/>
          <p:cNvSpPr txBox="1"/>
          <p:nvPr/>
        </p:nvSpPr>
        <p:spPr>
          <a:xfrm>
            <a:off x="4359724" y="2996511"/>
            <a:ext cx="6522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Lob</a:t>
            </a:r>
            <a:endParaRPr b="1"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"/>
          <p:cNvSpPr txBox="1"/>
          <p:nvPr/>
        </p:nvSpPr>
        <p:spPr>
          <a:xfrm>
            <a:off x="6261640" y="2918616"/>
            <a:ext cx="19145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Program Name</a:t>
            </a:r>
            <a:endParaRPr b="1" sz="18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7" name="Google Shape;317;p2"/>
          <p:cNvGrpSpPr/>
          <p:nvPr/>
        </p:nvGrpSpPr>
        <p:grpSpPr>
          <a:xfrm>
            <a:off x="2399421" y="3847862"/>
            <a:ext cx="4051440" cy="2355830"/>
            <a:chOff x="3781927" y="1530954"/>
            <a:chExt cx="2649356" cy="1616556"/>
          </a:xfrm>
        </p:grpSpPr>
        <p:pic>
          <p:nvPicPr>
            <p:cNvPr id="318" name="Google Shape;318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781927" y="1530954"/>
              <a:ext cx="2649356" cy="1616556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319" name="Google Shape;319;p2"/>
            <p:cNvSpPr/>
            <p:nvPr/>
          </p:nvSpPr>
          <p:spPr>
            <a:xfrm>
              <a:off x="3813166" y="1823333"/>
              <a:ext cx="1288002" cy="1313927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2"/>
          <p:cNvGrpSpPr/>
          <p:nvPr/>
        </p:nvGrpSpPr>
        <p:grpSpPr>
          <a:xfrm>
            <a:off x="6558951" y="3856399"/>
            <a:ext cx="5223274" cy="2332355"/>
            <a:chOff x="7042112" y="1530953"/>
            <a:chExt cx="3750627" cy="1611432"/>
          </a:xfrm>
        </p:grpSpPr>
        <p:pic>
          <p:nvPicPr>
            <p:cNvPr id="321" name="Google Shape;321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42112" y="1530953"/>
              <a:ext cx="3750627" cy="1611432"/>
            </a:xfrm>
            <a:prstGeom prst="rect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</p:pic>
        <p:sp>
          <p:nvSpPr>
            <p:cNvPr id="322" name="Google Shape;322;p2"/>
            <p:cNvSpPr/>
            <p:nvPr/>
          </p:nvSpPr>
          <p:spPr>
            <a:xfrm>
              <a:off x="7115888" y="1797312"/>
              <a:ext cx="1288002" cy="1313927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3" name="Google Shape;323;p2"/>
          <p:cNvCxnSpPr>
            <a:stCxn id="310" idx="2"/>
          </p:cNvCxnSpPr>
          <p:nvPr/>
        </p:nvCxnSpPr>
        <p:spPr>
          <a:xfrm flipH="1">
            <a:off x="4925734" y="1731526"/>
            <a:ext cx="958200" cy="1287600"/>
          </a:xfrm>
          <a:prstGeom prst="straightConnector1">
            <a:avLst/>
          </a:prstGeom>
          <a:noFill/>
          <a:ln cap="flat" cmpd="sng" w="12700">
            <a:solidFill>
              <a:srgbClr val="3333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4" name="Google Shape;324;p2"/>
          <p:cNvCxnSpPr>
            <a:stCxn id="310" idx="2"/>
          </p:cNvCxnSpPr>
          <p:nvPr/>
        </p:nvCxnSpPr>
        <p:spPr>
          <a:xfrm>
            <a:off x="5883934" y="1731526"/>
            <a:ext cx="893400" cy="1185900"/>
          </a:xfrm>
          <a:prstGeom prst="straightConnector1">
            <a:avLst/>
          </a:prstGeom>
          <a:noFill/>
          <a:ln cap="flat" cmpd="sng" w="12700">
            <a:solidFill>
              <a:srgbClr val="3333FF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90264" y="592742"/>
            <a:ext cx="3670570" cy="346303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"/>
          <p:cNvSpPr txBox="1"/>
          <p:nvPr/>
        </p:nvSpPr>
        <p:spPr>
          <a:xfrm>
            <a:off x="165030" y="722723"/>
            <a:ext cx="10615110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1" lang="en-US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Save button on the bottom to save selected condition and schedule</a:t>
            </a:r>
            <a:endParaRPr/>
          </a:p>
          <a:p>
            <a:pPr indent="-171450" lvl="1" marL="6286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Current only creator can check what he/she created</a:t>
            </a:r>
            <a:endParaRPr/>
          </a:p>
          <a:p>
            <a:pPr indent="-171450" lvl="1" marL="6286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Long-term idea able to have cross LoB/program name/creator comparison</a:t>
            </a:r>
            <a:endParaRPr/>
          </a:p>
        </p:txBody>
      </p:sp>
      <p:sp>
        <p:nvSpPr>
          <p:cNvPr id="331" name="Google Shape;331;p3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Digital tool UI feedback</a:t>
            </a:r>
            <a:endParaRPr/>
          </a:p>
        </p:txBody>
      </p:sp>
      <p:sp>
        <p:nvSpPr>
          <p:cNvPr id="332" name="Google Shape;332;p3"/>
          <p:cNvSpPr/>
          <p:nvPr/>
        </p:nvSpPr>
        <p:spPr>
          <a:xfrm>
            <a:off x="9975737" y="3567583"/>
            <a:ext cx="993057" cy="199953"/>
          </a:xfrm>
          <a:prstGeom prst="rect">
            <a:avLst/>
          </a:prstGeom>
          <a:gradFill>
            <a:gsLst>
              <a:gs pos="0">
                <a:srgbClr val="EEFAFF"/>
              </a:gs>
              <a:gs pos="50000">
                <a:srgbClr val="E3F8FF"/>
              </a:gs>
              <a:gs pos="100000">
                <a:srgbClr val="C4DCE3"/>
              </a:gs>
            </a:gsLst>
            <a:lin ang="5400000" scaled="0"/>
          </a:gradFill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19050">
              <a:srgbClr val="000000">
                <a:alpha val="6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Save</a:t>
            </a:r>
            <a:endParaRPr/>
          </a:p>
        </p:txBody>
      </p:sp>
      <p:graphicFrame>
        <p:nvGraphicFramePr>
          <p:cNvPr id="333" name="Google Shape;333;p3"/>
          <p:cNvGraphicFramePr/>
          <p:nvPr/>
        </p:nvGraphicFramePr>
        <p:xfrm>
          <a:off x="165030" y="46662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{FF48CABD-8865-43B0-A919-D2D1B9AF74DC}</a:tableStyleId>
              </a:tblPr>
              <a:tblGrid>
                <a:gridCol w="1033775"/>
                <a:gridCol w="748025"/>
                <a:gridCol w="1245775"/>
                <a:gridCol w="959900"/>
                <a:gridCol w="1005200"/>
                <a:gridCol w="1402075"/>
                <a:gridCol w="1543375"/>
                <a:gridCol w="2197425"/>
                <a:gridCol w="1302375"/>
              </a:tblGrid>
              <a:tr h="131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latin typeface="Play"/>
                          <a:ea typeface="Play"/>
                          <a:cs typeface="Play"/>
                          <a:sym typeface="Play"/>
                        </a:rPr>
                        <a:t>Product type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Lob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Program name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creator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Play"/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Yyyy/mm/dd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0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Chassis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Arch-PCB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SW/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DDS-RFD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  <a:tr h="28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Laptop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Dell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Sunfire INT NVL 14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Fenix Hou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2026/03/30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Baseline : Leverage (wks)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Adders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n/a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Baseline : Follow-New (wks)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Adders 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1. Xxx (+wks)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2. Yyy (+wks)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Baseline : Follow-Xrev Codebase (wks)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Adders 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1. Xxx (+wks)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2. Yyy (+wks)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?? Wks</a:t>
                      </a:r>
                      <a:endParaRPr b="0" sz="10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(critical path : Chassis or Arch-PCB or SW/validation)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  <a:tr h="23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Laptop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Dell Slim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Binary INT NVL 14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Fenix hou</a:t>
                      </a:r>
                      <a:endParaRPr b="0" sz="10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2026/0329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Baseline : New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Adders 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1. Xxx (+wks)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2. Yyy (+wks)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Baseline : Lead-New(wks)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Adders 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1. Xxx (+wks)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2. Yyy (+wks)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Baseline : Lead-Xrev Codebase(wks)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Adders 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1. Xxx (+wks)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2. Yyy (+wks)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?? Wks</a:t>
                      </a:r>
                      <a:endParaRPr b="0" sz="1000">
                        <a:latin typeface="Play"/>
                        <a:ea typeface="Play"/>
                        <a:cs typeface="Play"/>
                        <a:sym typeface="Play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>
                          <a:latin typeface="Play"/>
                          <a:ea typeface="Play"/>
                          <a:cs typeface="Play"/>
                          <a:sym typeface="Play"/>
                        </a:rPr>
                        <a:t>(critical path : Chassis or Arch-PCB or SW/validation)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334" name="Google Shape;334;p3"/>
          <p:cNvSpPr txBox="1"/>
          <p:nvPr/>
        </p:nvSpPr>
        <p:spPr>
          <a:xfrm>
            <a:off x="165030" y="4311515"/>
            <a:ext cx="27115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•"/>
            </a:pPr>
            <a:r>
              <a:rPr b="1" lang="en-US" sz="1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Save Log (example): </a:t>
            </a:r>
            <a:endParaRPr/>
          </a:p>
        </p:txBody>
      </p:sp>
      <p:cxnSp>
        <p:nvCxnSpPr>
          <p:cNvPr id="335" name="Google Shape;335;p3"/>
          <p:cNvCxnSpPr/>
          <p:nvPr/>
        </p:nvCxnSpPr>
        <p:spPr>
          <a:xfrm>
            <a:off x="4398745" y="1106905"/>
            <a:ext cx="5452621" cy="2460678"/>
          </a:xfrm>
          <a:prstGeom prst="straightConnector1">
            <a:avLst/>
          </a:prstGeom>
          <a:noFill/>
          <a:ln cap="flat" cmpd="sng" w="12700">
            <a:solidFill>
              <a:srgbClr val="3333FF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id="336" name="Google Shape;33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4822" y="4021865"/>
            <a:ext cx="3566011" cy="428149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"/>
          <p:cNvSpPr txBox="1"/>
          <p:nvPr/>
        </p:nvSpPr>
        <p:spPr>
          <a:xfrm>
            <a:off x="7890264" y="3785144"/>
            <a:ext cx="271158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Save Log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"/>
          <p:cNvSpPr/>
          <p:nvPr/>
        </p:nvSpPr>
        <p:spPr>
          <a:xfrm>
            <a:off x="953219" y="1190444"/>
            <a:ext cx="10412083" cy="5540315"/>
          </a:xfrm>
          <a:prstGeom prst="roundRect">
            <a:avLst>
              <a:gd fmla="val 4309" name="adj"/>
            </a:avLst>
          </a:prstGeom>
          <a:solidFill>
            <a:srgbClr val="D8D8D8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Digital tool UI feedback</a:t>
            </a:r>
            <a:endParaRPr/>
          </a:p>
        </p:txBody>
      </p:sp>
      <p:sp>
        <p:nvSpPr>
          <p:cNvPr id="344" name="Google Shape;344;p4"/>
          <p:cNvSpPr/>
          <p:nvPr/>
        </p:nvSpPr>
        <p:spPr>
          <a:xfrm>
            <a:off x="1142999" y="1516787"/>
            <a:ext cx="9963511" cy="1827992"/>
          </a:xfrm>
          <a:prstGeom prst="roundRect">
            <a:avLst>
              <a:gd fmla="val 6990" name="adj"/>
            </a:avLst>
          </a:prstGeom>
          <a:solidFill>
            <a:srgbClr val="FCF0DE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4"/>
          <p:cNvSpPr txBox="1"/>
          <p:nvPr/>
        </p:nvSpPr>
        <p:spPr>
          <a:xfrm>
            <a:off x="1213013" y="1565867"/>
            <a:ext cx="13946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ME/Chassis</a:t>
            </a:r>
            <a:endParaRPr/>
          </a:p>
        </p:txBody>
      </p:sp>
      <p:sp>
        <p:nvSpPr>
          <p:cNvPr id="346" name="Google Shape;346;p4"/>
          <p:cNvSpPr/>
          <p:nvPr/>
        </p:nvSpPr>
        <p:spPr>
          <a:xfrm>
            <a:off x="1234018" y="1842866"/>
            <a:ext cx="2408767" cy="23699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4"/>
          <p:cNvSpPr/>
          <p:nvPr/>
        </p:nvSpPr>
        <p:spPr>
          <a:xfrm>
            <a:off x="1142999" y="3465315"/>
            <a:ext cx="9959196" cy="2185234"/>
          </a:xfrm>
          <a:prstGeom prst="roundRect">
            <a:avLst>
              <a:gd fmla="val 6990" name="adj"/>
            </a:avLst>
          </a:prstGeom>
          <a:solidFill>
            <a:srgbClr val="C7EEDD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"/>
          <p:cNvSpPr txBox="1"/>
          <p:nvPr/>
        </p:nvSpPr>
        <p:spPr>
          <a:xfrm>
            <a:off x="4825645" y="1586838"/>
            <a:ext cx="2140651" cy="178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Chassis Material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Chassis Special Process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Tooling Complexity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Thermal Design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Tooling Sourcing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sp>
        <p:nvSpPr>
          <p:cNvPr id="349" name="Google Shape;349;p4"/>
          <p:cNvSpPr txBox="1"/>
          <p:nvPr/>
        </p:nvSpPr>
        <p:spPr>
          <a:xfrm>
            <a:off x="1199950" y="1265630"/>
            <a:ext cx="48126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333FF"/>
                </a:solidFill>
                <a:latin typeface="Play"/>
                <a:ea typeface="Play"/>
                <a:cs typeface="Play"/>
                <a:sym typeface="Play"/>
              </a:rPr>
              <a:t>Development Baseline</a:t>
            </a:r>
            <a:endParaRPr sz="1200">
              <a:solidFill>
                <a:srgbClr val="333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50" name="Google Shape;350;p4"/>
          <p:cNvSpPr txBox="1"/>
          <p:nvPr/>
        </p:nvSpPr>
        <p:spPr>
          <a:xfrm>
            <a:off x="4851676" y="1230670"/>
            <a:ext cx="34635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3333FF"/>
                </a:solidFill>
                <a:latin typeface="Play"/>
                <a:ea typeface="Play"/>
                <a:cs typeface="Play"/>
                <a:sym typeface="Play"/>
              </a:rPr>
              <a:t>Critical Path Adders</a:t>
            </a:r>
            <a:endParaRPr sz="1200">
              <a:solidFill>
                <a:srgbClr val="333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51" name="Google Shape;351;p4"/>
          <p:cNvSpPr/>
          <p:nvPr/>
        </p:nvSpPr>
        <p:spPr>
          <a:xfrm>
            <a:off x="6934145" y="1598574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Texture plastic)</a:t>
            </a:r>
            <a:endParaRPr/>
          </a:p>
        </p:txBody>
      </p:sp>
      <p:sp>
        <p:nvSpPr>
          <p:cNvPr id="352" name="Google Shape;352;p4"/>
          <p:cNvSpPr/>
          <p:nvPr/>
        </p:nvSpPr>
        <p:spPr>
          <a:xfrm>
            <a:off x="6934137" y="3110371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No ER)</a:t>
            </a:r>
            <a:endParaRPr/>
          </a:p>
        </p:txBody>
      </p:sp>
      <p:sp>
        <p:nvSpPr>
          <p:cNvPr id="353" name="Google Shape;353;p4"/>
          <p:cNvSpPr/>
          <p:nvPr/>
        </p:nvSpPr>
        <p:spPr>
          <a:xfrm>
            <a:off x="6934143" y="1897550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N/A)</a:t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"/>
          <p:cNvSpPr/>
          <p:nvPr/>
        </p:nvSpPr>
        <p:spPr>
          <a:xfrm>
            <a:off x="6934143" y="2196345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N/A)</a:t>
            </a:r>
            <a:endParaRPr/>
          </a:p>
        </p:txBody>
      </p:sp>
      <p:sp>
        <p:nvSpPr>
          <p:cNvPr id="355" name="Google Shape;355;p4"/>
          <p:cNvSpPr/>
          <p:nvPr/>
        </p:nvSpPr>
        <p:spPr>
          <a:xfrm>
            <a:off x="6934143" y="2810619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Tooling vendor colocation)</a:t>
            </a:r>
            <a:endParaRPr/>
          </a:p>
        </p:txBody>
      </p:sp>
      <p:sp>
        <p:nvSpPr>
          <p:cNvPr id="356" name="Google Shape;356;p4"/>
          <p:cNvSpPr/>
          <p:nvPr/>
        </p:nvSpPr>
        <p:spPr>
          <a:xfrm>
            <a:off x="1213013" y="3781826"/>
            <a:ext cx="2408767" cy="23699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"/>
          <p:cNvSpPr/>
          <p:nvPr/>
        </p:nvSpPr>
        <p:spPr>
          <a:xfrm>
            <a:off x="1192960" y="5769244"/>
            <a:ext cx="9932599" cy="878373"/>
          </a:xfrm>
          <a:prstGeom prst="roundRect">
            <a:avLst>
              <a:gd fmla="val 6990" name="adj"/>
            </a:avLst>
          </a:prstGeom>
          <a:solidFill>
            <a:srgbClr val="B4EAFF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"/>
          <p:cNvSpPr txBox="1"/>
          <p:nvPr/>
        </p:nvSpPr>
        <p:spPr>
          <a:xfrm>
            <a:off x="1295398" y="3557668"/>
            <a:ext cx="13946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EE/Arch – PCB </a:t>
            </a:r>
            <a:endParaRPr/>
          </a:p>
        </p:txBody>
      </p:sp>
      <p:sp>
        <p:nvSpPr>
          <p:cNvPr id="359" name="Google Shape;359;p4"/>
          <p:cNvSpPr txBox="1"/>
          <p:nvPr/>
        </p:nvSpPr>
        <p:spPr>
          <a:xfrm>
            <a:off x="1295398" y="5821511"/>
            <a:ext cx="1394603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SW</a:t>
            </a:r>
            <a:endParaRPr/>
          </a:p>
        </p:txBody>
      </p:sp>
      <p:sp>
        <p:nvSpPr>
          <p:cNvPr id="360" name="Google Shape;360;p4"/>
          <p:cNvSpPr/>
          <p:nvPr/>
        </p:nvSpPr>
        <p:spPr>
          <a:xfrm>
            <a:off x="1295398" y="6100200"/>
            <a:ext cx="2408767" cy="23699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4"/>
          <p:cNvCxnSpPr/>
          <p:nvPr/>
        </p:nvCxnSpPr>
        <p:spPr>
          <a:xfrm>
            <a:off x="4729091" y="1190444"/>
            <a:ext cx="0" cy="5540315"/>
          </a:xfrm>
          <a:prstGeom prst="straightConnector1">
            <a:avLst/>
          </a:prstGeom>
          <a:noFill/>
          <a:ln cap="flat" cmpd="sng" w="38100">
            <a:solidFill>
              <a:schemeClr val="lt2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362" name="Google Shape;362;p4"/>
          <p:cNvSpPr/>
          <p:nvPr/>
        </p:nvSpPr>
        <p:spPr>
          <a:xfrm>
            <a:off x="6966304" y="2498325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heat pipe + plate)</a:t>
            </a:r>
            <a:endParaRPr/>
          </a:p>
        </p:txBody>
      </p:sp>
      <p:sp>
        <p:nvSpPr>
          <p:cNvPr id="363" name="Google Shape;363;p4"/>
          <p:cNvSpPr txBox="1"/>
          <p:nvPr/>
        </p:nvSpPr>
        <p:spPr>
          <a:xfrm>
            <a:off x="4857809" y="3557668"/>
            <a:ext cx="2091630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PCB Layer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PCB 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PCB special process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Design Complexity – CPU/GPU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Design Complexity – TBT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PCB Sourcing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sp>
        <p:nvSpPr>
          <p:cNvPr id="364" name="Google Shape;364;p4"/>
          <p:cNvSpPr/>
          <p:nvPr/>
        </p:nvSpPr>
        <p:spPr>
          <a:xfrm>
            <a:off x="6934141" y="3559635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≤12L)</a:t>
            </a:r>
            <a:endParaRPr/>
          </a:p>
        </p:txBody>
      </p:sp>
      <p:sp>
        <p:nvSpPr>
          <p:cNvPr id="365" name="Google Shape;365;p4"/>
          <p:cNvSpPr/>
          <p:nvPr/>
        </p:nvSpPr>
        <p:spPr>
          <a:xfrm>
            <a:off x="6934137" y="5389878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No ER)</a:t>
            </a:r>
            <a:endParaRPr/>
          </a:p>
        </p:txBody>
      </p:sp>
      <p:sp>
        <p:nvSpPr>
          <p:cNvPr id="366" name="Google Shape;366;p4"/>
          <p:cNvSpPr/>
          <p:nvPr/>
        </p:nvSpPr>
        <p:spPr>
          <a:xfrm>
            <a:off x="6934139" y="3858611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Std Type-3)</a:t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"/>
          <p:cNvSpPr/>
          <p:nvPr/>
        </p:nvSpPr>
        <p:spPr>
          <a:xfrm>
            <a:off x="6934139" y="4157406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N/A)</a:t>
            </a:r>
            <a:endParaRPr/>
          </a:p>
        </p:txBody>
      </p:sp>
      <p:sp>
        <p:nvSpPr>
          <p:cNvPr id="368" name="Google Shape;368;p4"/>
          <p:cNvSpPr/>
          <p:nvPr/>
        </p:nvSpPr>
        <p:spPr>
          <a:xfrm>
            <a:off x="6934137" y="5089984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PCB vendor colocation)</a:t>
            </a:r>
            <a:endParaRPr/>
          </a:p>
        </p:txBody>
      </p:sp>
      <p:sp>
        <p:nvSpPr>
          <p:cNvPr id="369" name="Google Shape;369;p4"/>
          <p:cNvSpPr/>
          <p:nvPr/>
        </p:nvSpPr>
        <p:spPr>
          <a:xfrm>
            <a:off x="6941788" y="4477350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x86 UMA)</a:t>
            </a:r>
            <a:endParaRPr/>
          </a:p>
        </p:txBody>
      </p:sp>
      <p:sp>
        <p:nvSpPr>
          <p:cNvPr id="370" name="Google Shape;370;p4"/>
          <p:cNvSpPr/>
          <p:nvPr/>
        </p:nvSpPr>
        <p:spPr>
          <a:xfrm>
            <a:off x="6934137" y="4789701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TBT ≤  2 ports</a:t>
            </a:r>
            <a:endParaRPr/>
          </a:p>
        </p:txBody>
      </p:sp>
      <p:sp>
        <p:nvSpPr>
          <p:cNvPr id="371" name="Google Shape;371;p4"/>
          <p:cNvSpPr txBox="1"/>
          <p:nvPr/>
        </p:nvSpPr>
        <p:spPr>
          <a:xfrm>
            <a:off x="4825646" y="5811559"/>
            <a:ext cx="2091630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EE/ME Adders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Design Complexity – CPU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Design Complexity – GPU</a:t>
            </a:r>
            <a:endParaRPr/>
          </a:p>
        </p:txBody>
      </p:sp>
      <p:sp>
        <p:nvSpPr>
          <p:cNvPr id="372" name="Google Shape;372;p4"/>
          <p:cNvSpPr/>
          <p:nvPr/>
        </p:nvSpPr>
        <p:spPr>
          <a:xfrm>
            <a:off x="6917276" y="5854909"/>
            <a:ext cx="3366778" cy="201248"/>
          </a:xfrm>
          <a:prstGeom prst="rect">
            <a:avLst/>
          </a:prstGeom>
          <a:solidFill>
            <a:srgbClr val="CCCCCC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Not for user input , default : N/A; or show +xx wks</a:t>
            </a:r>
            <a:endParaRPr b="1" sz="10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"/>
          <p:cNvSpPr/>
          <p:nvPr/>
        </p:nvSpPr>
        <p:spPr>
          <a:xfrm>
            <a:off x="6917276" y="6141821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x86 CPU)</a:t>
            </a:r>
            <a:endParaRPr/>
          </a:p>
        </p:txBody>
      </p:sp>
      <p:sp>
        <p:nvSpPr>
          <p:cNvPr id="374" name="Google Shape;374;p4"/>
          <p:cNvSpPr/>
          <p:nvPr/>
        </p:nvSpPr>
        <p:spPr>
          <a:xfrm>
            <a:off x="6941788" y="6406771"/>
            <a:ext cx="2941360" cy="20124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(default : UMA)</a:t>
            </a:r>
            <a:endParaRPr/>
          </a:p>
        </p:txBody>
      </p:sp>
      <p:sp>
        <p:nvSpPr>
          <p:cNvPr id="375" name="Google Shape;375;p4"/>
          <p:cNvSpPr/>
          <p:nvPr/>
        </p:nvSpPr>
        <p:spPr>
          <a:xfrm>
            <a:off x="1043968" y="848784"/>
            <a:ext cx="10321333" cy="308501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Chassis (xx w) - Baseline (yy w) ; Adders (zz w) | Arch-PCB (xx w) - Baseline (yy w) ; Adders (zz w) | SW (xx w) - Baseline (yy w) ; Adders (zz w) </a:t>
            </a:r>
            <a:endParaRPr/>
          </a:p>
        </p:txBody>
      </p:sp>
      <p:sp>
        <p:nvSpPr>
          <p:cNvPr id="376" name="Google Shape;376;p4"/>
          <p:cNvSpPr/>
          <p:nvPr/>
        </p:nvSpPr>
        <p:spPr>
          <a:xfrm>
            <a:off x="1043968" y="527930"/>
            <a:ext cx="10321333" cy="30850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Development Schedule (DDS – RFD) : xx weeks (max of Chassis, Arch-PCB, or SW)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Laptop logic (Chassis)</a:t>
            </a:r>
            <a:endParaRPr b="1" sz="2800"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382" name="Google Shape;382;p5"/>
          <p:cNvGraphicFramePr/>
          <p:nvPr/>
        </p:nvGraphicFramePr>
        <p:xfrm>
          <a:off x="130834" y="599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{CFD77D87-EF1F-41B1-BA7E-81F942572A63}</a:tableStyleId>
              </a:tblPr>
              <a:tblGrid>
                <a:gridCol w="494650"/>
                <a:gridCol w="1475225"/>
                <a:gridCol w="1001800"/>
                <a:gridCol w="1627700"/>
                <a:gridCol w="537250"/>
                <a:gridCol w="2746525"/>
                <a:gridCol w="3998350"/>
              </a:tblGrid>
              <a:tr h="397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Catagotry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factors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Catagotry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factors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apply if chassis baseline =New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1 Adders (Max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Material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Texture Plastic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rowSpan="6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- Texture Plastic (Default adder =0)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1 Adders (Max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Material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Paint Plastic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1 Adders (Max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Material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 Stamping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1 Adders (Max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Material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Die-casting (Inner Main)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1 Adders (Max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Material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Die-cating (Cover)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1 Adders (Max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Material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CNC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1 Adders (Max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Thermal Design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Heat-pipe &amp; plate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select,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- Heat-pipe &amp; plate (Default adder =0)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1 Adders (Max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Thermal Design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Vaper Chamber (VC)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2 Adders (stack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special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Press-in Hinge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 select, stack up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- N/A (Default adder =0)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2 Adders (stack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special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AL/MG+Insert mold 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Insert mold only apply if Chassis material = AL Stamping or both Die-casting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2 Adders (stack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special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hinge-up sub-assy/bounding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2 Adders (stack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Sourcing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vendor colocation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select,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default - vendor colocation (Default adder =0)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2 Adders (stack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 Sourcing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vendor non-colocation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2 Adders (stack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 (No = 0 / Yes =2)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- No ER (Default adder =0)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 2 Adders (stack rule)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Tool Complexity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Complexity adder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Multi-select,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- N/A (Default adder =0)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if N/A or hinge-up * base &lt;3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3.5 if hinge-up * base ≥3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Complexity adder only apply if Chassis material = Texture plastic, Paint plastic or AL Stamping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WWAN w/diff. A/B cover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(hinge-up)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camera w/diff. A/B cover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(hinge-up)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Complexity  Adder</a:t>
                      </a:r>
                      <a:endParaRPr b="0" i="0" sz="1000" u="none" strike="noStrike">
                        <a:solidFill>
                          <a:srgbClr val="3333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panel w/diff. A/B cover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(hinge-up)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options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3333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WWAN w/diff. C/D cover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(base)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8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KB outline w/diff. C/D cover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(base)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Smartcard w/diff. C/D cover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(base)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3" name="Google Shape;383;p5"/>
          <p:cNvSpPr txBox="1"/>
          <p:nvPr/>
        </p:nvSpPr>
        <p:spPr>
          <a:xfrm>
            <a:off x="5423140" y="1153063"/>
            <a:ext cx="61376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333FF"/>
                </a:solidFill>
                <a:latin typeface="Arial"/>
                <a:ea typeface="Arial"/>
                <a:cs typeface="Arial"/>
                <a:sym typeface="Arial"/>
              </a:rPr>
              <a:t>Chassis Adders = MAX (2+4+5, 1+3+4+5+6)</a:t>
            </a:r>
            <a:endParaRPr/>
          </a:p>
        </p:txBody>
      </p:sp>
      <p:sp>
        <p:nvSpPr>
          <p:cNvPr id="384" name="Google Shape;384;p5"/>
          <p:cNvSpPr/>
          <p:nvPr/>
        </p:nvSpPr>
        <p:spPr>
          <a:xfrm rot="10800000">
            <a:off x="4580624" y="5339747"/>
            <a:ext cx="569345" cy="1192391"/>
          </a:xfrm>
          <a:prstGeom prst="rightBrace">
            <a:avLst>
              <a:gd fmla="val 8333" name="adj1"/>
              <a:gd fmla="val 58682" name="adj2"/>
            </a:avLst>
          </a:prstGeom>
          <a:noFill/>
          <a:ln cap="flat" cmpd="sng" w="12700">
            <a:solidFill>
              <a:srgbClr val="3333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6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Laptop logic (Arch-PCB)</a:t>
            </a:r>
            <a:endParaRPr b="1" sz="2800"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390" name="Google Shape;390;p6"/>
          <p:cNvGraphicFramePr/>
          <p:nvPr/>
        </p:nvGraphicFramePr>
        <p:xfrm>
          <a:off x="210365" y="836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{CFD77D87-EF1F-41B1-BA7E-81F942572A63}</a:tableStyleId>
              </a:tblPr>
              <a:tblGrid>
                <a:gridCol w="1620750"/>
                <a:gridCol w="2037100"/>
                <a:gridCol w="2007375"/>
                <a:gridCol w="609650"/>
                <a:gridCol w="638175"/>
                <a:gridCol w="3625100"/>
                <a:gridCol w="1147975"/>
              </a:tblGrid>
              <a:tr h="161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Catagotrydef</a:t>
                      </a:r>
                      <a:endParaRPr b="1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 factors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Duration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Arch-PCB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Arch-PCB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Arch-PCB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187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Catagotry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Attribute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Lead-New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Follow-New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Adder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5E6A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b="1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Layer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Refer to page-7 “PCB Layer”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“4L” to “16L”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select, detail refer to “PCB LT”,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≤12L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adder =0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Type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Refer to page.7 “PCB type”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“STD Type-3” to “HDI anylayer”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select, detal refer to “PCB LT”.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=  Std Type-3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Process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 process - selective ENIG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row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Multi selection, stack-up rule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default = N/A (default adder=0)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5"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sng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sng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Process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sng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 process - ENIG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sng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sng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F7F7F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Process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 process - Black ink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Process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 process - back drill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1.34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Process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special process - VIPPO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Sourcing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vendor colocation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select,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- vendor colocation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Sourcing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vendor non-colocation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Process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select, (No =0 / Yes =2)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- No ER (Default adder =0)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CPU/GPU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 PCB - x86 UMA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Apply if PCB type = Std Type-3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select,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= STD PCB - x86 UMA (Default adder =0)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CPU/GPU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 PCB - dGPU STD PCB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CPU/GPU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 PCB - QC/NV UMA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CPU/GPU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 PCB - OC/NV + dGPU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CPU/GPU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PCB - x86 UMA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Apply if PCB type = HDI*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select,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= HDI PCB - x86 UMA 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CPU/GPU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PCB - dGPU 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CPU/GPU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PCB - QC/NV UMA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CPU/GPU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PCB - OC/NV + dGPU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TBT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TBT port ≤2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row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select</a:t>
                      </a:r>
                      <a:b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Default = TBT port ≤2 Default adder =0)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 h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TBT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TBT port x3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  <a:tr h="202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 design Complexity - TBT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TBT port x4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 gridSpan="2" vMerge="1"/>
                <a:tc hMerge="1" v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Laptop logic (PCB LT)</a:t>
            </a:r>
            <a:endParaRPr b="1" sz="2800"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396" name="Google Shape;396;p7"/>
          <p:cNvGraphicFramePr/>
          <p:nvPr/>
        </p:nvGraphicFramePr>
        <p:xfrm>
          <a:off x="666391" y="19735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{CFD77D87-EF1F-41B1-BA7E-81F942572A63}</a:tableStyleId>
              </a:tblPr>
              <a:tblGrid>
                <a:gridCol w="776825"/>
                <a:gridCol w="776825"/>
                <a:gridCol w="1051925"/>
                <a:gridCol w="760625"/>
                <a:gridCol w="760625"/>
                <a:gridCol w="873925"/>
                <a:gridCol w="760625"/>
                <a:gridCol w="841550"/>
                <a:gridCol w="760625"/>
                <a:gridCol w="841550"/>
                <a:gridCol w="760625"/>
                <a:gridCol w="841550"/>
                <a:gridCol w="1051925"/>
              </a:tblGrid>
              <a:tr h="243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*adders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 gridSpan="11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Type</a:t>
                      </a:r>
                      <a:endParaRPr/>
                    </a:p>
                  </a:txBody>
                  <a:tcPr marT="0" marB="0" marR="0" marL="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243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i="0" sz="12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LT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 Type-3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1-x-1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2-x-2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2-x-2 +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3-x-3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3-x-3+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4-x-4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4-x-4+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5-x-5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5-x-5+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HDI AnyLayer</a:t>
                      </a:r>
                      <a:endParaRPr b="1" i="0" sz="1200" u="none" strike="noStrike">
                        <a:solidFill>
                          <a:srgbClr val="3333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3E2FD"/>
                    </a:solidFill>
                  </a:tcPr>
                </a:tc>
              </a:tr>
              <a:tr h="243675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PCB Layer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4L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</a:tr>
              <a:tr h="243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6L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8L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10L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12L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14L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6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16L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5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2.5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n/a</a:t>
                      </a:r>
                      <a:endParaRPr/>
                    </a:p>
                  </a:txBody>
                  <a:tcPr marT="0" marB="0" marR="0" marL="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95959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7"/>
          <p:cNvSpPr txBox="1"/>
          <p:nvPr/>
        </p:nvSpPr>
        <p:spPr>
          <a:xfrm>
            <a:off x="666390" y="1450328"/>
            <a:ext cx="1061511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Lead-New = Adder x4</a:t>
            </a:r>
            <a:endParaRPr b="0" i="0" sz="3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Follow-New = Adder x3</a:t>
            </a:r>
            <a:endParaRPr b="0" i="0" sz="3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Laptop logic (SW baseline)</a:t>
            </a:r>
            <a:endParaRPr b="1" sz="2800"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403" name="Google Shape;403;p8"/>
          <p:cNvGraphicFramePr/>
          <p:nvPr/>
        </p:nvGraphicFramePr>
        <p:xfrm>
          <a:off x="130833" y="6165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{CFD77D87-EF1F-41B1-BA7E-81F942572A63}</a:tableStyleId>
              </a:tblPr>
              <a:tblGrid>
                <a:gridCol w="1654675"/>
                <a:gridCol w="2465125"/>
                <a:gridCol w="787925"/>
                <a:gridCol w="1958575"/>
                <a:gridCol w="1936075"/>
                <a:gridCol w="1936075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define SW baseline attribute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DCF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 to BCO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BCO to A-rev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#1 Total duration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Lead, X-rev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only selectable while </a:t>
                      </a:r>
                      <a:r>
                        <a:rPr b="0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Arch-PCB baseline = Lead-New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Follow, X-rev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selectable </a:t>
                      </a:r>
                      <a:r>
                        <a:rPr b="0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Arch-PCB = follow-new or 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Follow, A-rev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selectable </a:t>
                      </a:r>
                      <a:r>
                        <a:rPr b="0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Arch-PCB = follow-new or 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404" name="Google Shape;404;p8"/>
          <p:cNvGraphicFramePr/>
          <p:nvPr/>
        </p:nvGraphicFramePr>
        <p:xfrm>
          <a:off x="130834" y="17034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{CFD77D87-EF1F-41B1-BA7E-81F942572A63}</a:tableStyleId>
              </a:tblPr>
              <a:tblGrid>
                <a:gridCol w="2002350"/>
                <a:gridCol w="273600"/>
                <a:gridCol w="1211075"/>
                <a:gridCol w="1172100"/>
                <a:gridCol w="1343025"/>
                <a:gridCol w="1357675"/>
                <a:gridCol w="659300"/>
                <a:gridCol w="1543275"/>
                <a:gridCol w="1399200"/>
                <a:gridCol w="932800"/>
              </a:tblGrid>
              <a:tr h="16432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define baseline DDS to FC (feature compelet)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32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DCF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DDS to FC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= default 1st sample to FC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Arch-PCB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 = x00 PWA ready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= x01 PWA ready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Chassis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= T1 material ready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E=1st assy. unit ready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F=DDS to FC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Lead, X-rev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SUM(E32:H32)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SUM(E32:K32)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SUM(E4:J4)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MAX(C+0.5 , D+0.5)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MAX(A+B , E)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Lead, X-rev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Lead-New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SUM(E32:H32)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SUM(E32:K32)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MAX(C+0.5 , D+0.5)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MAX(A+B , E)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Follow, X-rev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SUM(E33:H33)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SUM(E33:K33)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SUM(E4:J4)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MAX(B+0.5 , D+0.5)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MAX(A+B , E)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Follow, X-rev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B+0.5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MAX(A+B , E)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Follow, A-rev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SUM(E33:H33)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SUM(E33:K33)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SUM(E4:J4)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MAX(B+0.5 , D+0.5)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MAX(A+B , E)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Follow, A-rev Codebase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E2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Follow-Leverage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Leverage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B+0.5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MAX(A+B , E)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05" name="Google Shape;4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20" y="3643623"/>
            <a:ext cx="11989416" cy="692186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pic>
        <p:nvPicPr>
          <p:cNvPr id="406" name="Google Shape;4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20" y="4576690"/>
            <a:ext cx="12046569" cy="57788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407" name="Google Shape;407;p8"/>
          <p:cNvSpPr/>
          <p:nvPr/>
        </p:nvSpPr>
        <p:spPr>
          <a:xfrm>
            <a:off x="3348220" y="3662201"/>
            <a:ext cx="2555429" cy="692187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2153029" y="4547158"/>
            <a:ext cx="4771553" cy="692186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3271616" y="3589625"/>
            <a:ext cx="4184482" cy="845480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8211845" y="2005463"/>
            <a:ext cx="1438182" cy="1559485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6184972" y="2005463"/>
            <a:ext cx="1271126" cy="1484866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4900670" y="2005463"/>
            <a:ext cx="1079584" cy="1442578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3" name="Google Shape;413;p8"/>
          <p:cNvGraphicFramePr/>
          <p:nvPr/>
        </p:nvGraphicFramePr>
        <p:xfrm>
          <a:off x="130833" y="56172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{CFD77D87-EF1F-41B1-BA7E-81F942572A63}</a:tableStyleId>
              </a:tblPr>
              <a:tblGrid>
                <a:gridCol w="2904050"/>
                <a:gridCol w="205625"/>
                <a:gridCol w="1313550"/>
                <a:gridCol w="205625"/>
                <a:gridCol w="1619900"/>
                <a:gridCol w="205625"/>
                <a:gridCol w="436450"/>
                <a:gridCol w="205625"/>
                <a:gridCol w="2706800"/>
              </a:tblGrid>
              <a:tr h="130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 Baseline SW duration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6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DDS to FC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FC to BCO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BCO to A-rev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 SW duration = #1 + #2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C7AC"/>
                    </a:solidFill>
                  </a:tcPr>
                </a:tc>
              </a:tr>
              <a:tr h="130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based on #2 calculation</a:t>
                      </a:r>
                      <a:endParaRPr/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0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3333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"/>
          <p:cNvSpPr txBox="1"/>
          <p:nvPr>
            <p:ph type="title"/>
          </p:nvPr>
        </p:nvSpPr>
        <p:spPr>
          <a:xfrm>
            <a:off x="130833" y="127240"/>
            <a:ext cx="11773619" cy="778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Laptop logic (SW Adder-1 : EE/ME for “DDS to FC”)</a:t>
            </a:r>
            <a:endParaRPr b="1" sz="2800"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419" name="Google Shape;419;p9"/>
          <p:cNvGraphicFramePr/>
          <p:nvPr/>
        </p:nvGraphicFramePr>
        <p:xfrm>
          <a:off x="130833" y="677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{CFD77D87-EF1F-41B1-BA7E-81F942572A63}</a:tableStyleId>
              </a:tblPr>
              <a:tblGrid>
                <a:gridCol w="1284875"/>
                <a:gridCol w="1057125"/>
                <a:gridCol w="45200"/>
                <a:gridCol w="25400"/>
                <a:gridCol w="2102750"/>
                <a:gridCol w="2067300"/>
                <a:gridCol w="45200"/>
                <a:gridCol w="1976875"/>
                <a:gridCol w="1144050"/>
                <a:gridCol w="2199425"/>
              </a:tblGrid>
              <a:tr h="257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 DDS to FC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975">
                <a:tc gridSpan="9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Logic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4DCF8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DDS to FC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EE/ME impact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 adders 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adders 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Arch-PCB = Lead-New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based on selected adder to sum E37~H57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based on selected adder to sum E37~K57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Arch-PCB = Follow-New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based on selected adder to sum E60-H80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based on selected adder to sum E60-K80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if chassis = New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based on selected adder to sum E8~J22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chemeClr val="lt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(same as baseline</a:t>
                      </a: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 baseline + B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baseline + C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 baseline + D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 (same logic as above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Fnew = DDS to FC with  Adder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US" sz="9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FF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n-US" sz="900" u="none" strike="noStrike">
                          <a:solidFill>
                            <a:srgbClr val="3333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Fnew - F baseline = EE/ME impacted DDS to FC adder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pic>
        <p:nvPicPr>
          <p:cNvPr id="420" name="Google Shape;4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33" y="4562303"/>
            <a:ext cx="11989416" cy="2063856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9"/>
          <p:cNvSpPr/>
          <p:nvPr/>
        </p:nvSpPr>
        <p:spPr>
          <a:xfrm>
            <a:off x="6745354" y="1227344"/>
            <a:ext cx="2019083" cy="1018706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130833" y="4562302"/>
            <a:ext cx="6839310" cy="2063855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130833" y="1509624"/>
            <a:ext cx="6614522" cy="142042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130833" y="1755839"/>
            <a:ext cx="6614521" cy="151685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9"/>
          <p:cNvSpPr txBox="1"/>
          <p:nvPr/>
        </p:nvSpPr>
        <p:spPr>
          <a:xfrm>
            <a:off x="265981" y="3980605"/>
            <a:ext cx="11724736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Building blocks schedule - Laptop logic (SW EE/ME Adders - ME/Chassis data)</a:t>
            </a:r>
            <a:endParaRPr b="1" sz="2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63" y="735171"/>
            <a:ext cx="11920603" cy="558799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0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Laptop logic (SW EE/ME Adders - Arch-PCB data)</a:t>
            </a:r>
            <a:endParaRPr b="1" sz="28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140563" y="3599062"/>
            <a:ext cx="7538050" cy="2732166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130833" y="745724"/>
            <a:ext cx="7538050" cy="251321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130834" y="743237"/>
            <a:ext cx="5864524" cy="2513215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140563" y="3596575"/>
            <a:ext cx="5854795" cy="2734653"/>
          </a:xfrm>
          <a:prstGeom prst="rect">
            <a:avLst/>
          </a:prstGeom>
          <a:noFill/>
          <a:ln cap="flat" cmpd="sng" w="381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0"/>
          <p:cNvSpPr txBox="1"/>
          <p:nvPr/>
        </p:nvSpPr>
        <p:spPr>
          <a:xfrm>
            <a:off x="3442504" y="962620"/>
            <a:ext cx="24033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Laptop logic (PCB LT) x1</a:t>
            </a:r>
            <a:endParaRPr b="1" sz="1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0"/>
          <p:cNvSpPr txBox="1"/>
          <p:nvPr/>
        </p:nvSpPr>
        <p:spPr>
          <a:xfrm>
            <a:off x="5991046" y="1008787"/>
            <a:ext cx="16764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Laptop logic (PCB LT) x1</a:t>
            </a:r>
            <a:endParaRPr b="1" sz="11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0"/>
          <p:cNvSpPr txBox="1"/>
          <p:nvPr/>
        </p:nvSpPr>
        <p:spPr>
          <a:xfrm>
            <a:off x="3508640" y="3744684"/>
            <a:ext cx="24033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Laptop logic (PCB LT) x1</a:t>
            </a:r>
            <a:endParaRPr b="1" sz="1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0"/>
          <p:cNvSpPr txBox="1"/>
          <p:nvPr/>
        </p:nvSpPr>
        <p:spPr>
          <a:xfrm>
            <a:off x="6002213" y="3767767"/>
            <a:ext cx="16764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rPr>
              <a:t>Laptop logic (PCB LT) x1</a:t>
            </a:r>
            <a:endParaRPr b="1" sz="11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1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Laptop logic (SW Adders-3)</a:t>
            </a:r>
            <a:endParaRPr b="1" sz="2800">
              <a:latin typeface="Play"/>
              <a:ea typeface="Play"/>
              <a:cs typeface="Play"/>
              <a:sym typeface="Play"/>
            </a:endParaRPr>
          </a:p>
        </p:txBody>
      </p:sp>
      <p:graphicFrame>
        <p:nvGraphicFramePr>
          <p:cNvPr id="445" name="Google Shape;445;p11"/>
          <p:cNvGraphicFramePr/>
          <p:nvPr/>
        </p:nvGraphicFramePr>
        <p:xfrm>
          <a:off x="229670" y="6286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{CFD77D87-EF1F-41B1-BA7E-81F942572A63}</a:tableStyleId>
              </a:tblPr>
              <a:tblGrid>
                <a:gridCol w="1943900"/>
                <a:gridCol w="3019250"/>
                <a:gridCol w="2398850"/>
                <a:gridCol w="2398850"/>
              </a:tblGrid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4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 BCO to A-rev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Selection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BCO to A-rev Adders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 BCO to Arev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D050"/>
                    </a:solidFill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complexity - CPU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x86 UMA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(default)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 (4, 3.5, 0)  + baseline BCO to Arev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 QC/NV UMA</a:t>
                      </a:r>
                      <a:endParaRPr b="0" i="0" sz="11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3.5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complexity GPU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UMA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(default)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8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w/dGPU &amp; CPU QS@DVT2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  <p:pic>
        <p:nvPicPr>
          <p:cNvPr id="446" name="Google Shape;4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670" y="3140015"/>
            <a:ext cx="11818506" cy="208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1"/>
          <p:cNvSpPr/>
          <p:nvPr/>
        </p:nvSpPr>
        <p:spPr>
          <a:xfrm>
            <a:off x="6780362" y="1921512"/>
            <a:ext cx="517585" cy="1513936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1"/>
          <p:cNvSpPr/>
          <p:nvPr/>
        </p:nvSpPr>
        <p:spPr>
          <a:xfrm rot="2900020">
            <a:off x="7878580" y="1407970"/>
            <a:ext cx="517585" cy="247962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/>
          <p:cNvSpPr txBox="1"/>
          <p:nvPr>
            <p:ph type="title"/>
          </p:nvPr>
        </p:nvSpPr>
        <p:spPr>
          <a:xfrm>
            <a:off x="130834" y="127240"/>
            <a:ext cx="11430000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n-US" sz="2800">
                <a:latin typeface="Play"/>
                <a:ea typeface="Play"/>
                <a:cs typeface="Play"/>
                <a:sym typeface="Play"/>
              </a:rPr>
              <a:t>Building blocks schedule - Laptop logic (Excel calculator for reference)</a:t>
            </a:r>
            <a:endParaRPr b="1" sz="280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130834" y="1449747"/>
            <a:ext cx="1061511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</a:pPr>
            <a:r>
              <a:rPr b="1" lang="en-US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Goal : input RTS date can auto calculate all of the key milestone with considering holiday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5" name="Google Shape;455;p12"/>
          <p:cNvGraphicFramePr/>
          <p:nvPr/>
        </p:nvGraphicFramePr>
        <p:xfrm>
          <a:off x="324928" y="712309"/>
          <a:ext cx="914400" cy="806450"/>
        </p:xfrm>
        <a:graphic>
          <a:graphicData uri="http://schemas.openxmlformats.org/presentationml/2006/ole">
            <mc:AlternateContent>
              <mc:Choice Requires="v">
                <p:oleObj r:id="rId4" imgH="806450" imgW="914400" progId="Excel.Sheet.12" spid="_x0000_s1">
                  <p:embed/>
                </p:oleObj>
              </mc:Choice>
              <mc:Fallback>
                <p:oleObj r:id="rId5" imgH="806450" imgW="914400" progId="Excel.Sheet.12">
                  <p:embed/>
                  <p:pic>
                    <p:nvPicPr>
                      <p:cNvPr id="455" name="Google Shape;455;p1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24928" y="712309"/>
                        <a:ext cx="914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/>
          <p:nvPr>
            <p:ph type="title"/>
          </p:nvPr>
        </p:nvSpPr>
        <p:spPr>
          <a:xfrm>
            <a:off x="354106" y="3055051"/>
            <a:ext cx="8027894" cy="74789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5F8FF"/>
              </a:buClr>
              <a:buSzPts val="5400"/>
              <a:buFont typeface="Arial"/>
              <a:buNone/>
            </a:pPr>
            <a:r>
              <a:rPr lang="en-US"/>
              <a:t>Backup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ell Tech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2025-10-15T07:59:40Z</dcterms:created>
  <dc:creator>Liu, Derek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0x010100C5D59106F1514740AF3960DE6C31AF0A</vt:lpwstr>
  </property>
  <property fmtid="{D5CDD505-2E9C-101B-9397-08002B2CF9AE}" pid="3" name="MSIP_Label_73dd1fcc-24d7-4f55-9dc2-c1518f171327_Enabled">
    <vt:lpwstr>true</vt:lpwstr>
  </property>
  <property fmtid="{D5CDD505-2E9C-101B-9397-08002B2CF9AE}" pid="4" name="MSIP_Label_73dd1fcc-24d7-4f55-9dc2-c1518f171327_SetDate">
    <vt:lpwstr>2025-10-17T02:44:18Z</vt:lpwstr>
  </property>
  <property fmtid="{D5CDD505-2E9C-101B-9397-08002B2CF9AE}" pid="5" name="MSIP_Label_73dd1fcc-24d7-4f55-9dc2-c1518f171327_Method">
    <vt:lpwstr>Privileged</vt:lpwstr>
  </property>
  <property fmtid="{D5CDD505-2E9C-101B-9397-08002B2CF9AE}" pid="6" name="MSIP_Label_73dd1fcc-24d7-4f55-9dc2-c1518f171327_Name">
    <vt:lpwstr>No Protection (Label Only) - Internal Use</vt:lpwstr>
  </property>
  <property fmtid="{D5CDD505-2E9C-101B-9397-08002B2CF9AE}" pid="7" name="MSIP_Label_73dd1fcc-24d7-4f55-9dc2-c1518f171327_SiteId">
    <vt:lpwstr>945c199a-83a2-4e80-9f8c-5a91be5752dd</vt:lpwstr>
  </property>
  <property fmtid="{D5CDD505-2E9C-101B-9397-08002B2CF9AE}" pid="8" name="MSIP_Label_73dd1fcc-24d7-4f55-9dc2-c1518f171327_ActionId">
    <vt:lpwstr>57e42e2c-a0d2-49e0-b17d-1ab20cd76272</vt:lpwstr>
  </property>
  <property fmtid="{D5CDD505-2E9C-101B-9397-08002B2CF9AE}" pid="9" name="MSIP_Label_73dd1fcc-24d7-4f55-9dc2-c1518f171327_ContentBits">
    <vt:lpwstr>2</vt:lpwstr>
  </property>
  <property fmtid="{D5CDD505-2E9C-101B-9397-08002B2CF9AE}" pid="10" name="MSIP_Label_73dd1fcc-24d7-4f55-9dc2-c1518f171327_Tag">
    <vt:lpwstr>10, 0, 1, 1</vt:lpwstr>
  </property>
  <property fmtid="{D5CDD505-2E9C-101B-9397-08002B2CF9AE}" pid="11" name="ClassificationContentMarkingFooterLocations">
    <vt:lpwstr>Office Theme:8\Dell Tech template:4</vt:lpwstr>
  </property>
  <property fmtid="{D5CDD505-2E9C-101B-9397-08002B2CF9AE}" pid="12" name="ClassificationContentMarkingFooterText">
    <vt:lpwstr>Internal Use - Confidential</vt:lpwstr>
  </property>
</Properties>
</file>